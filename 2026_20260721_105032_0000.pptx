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330699" y="2200153"/>
            <a:ext cx="11626601" cy="1794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5"/>
              </a:lnSpc>
            </a:pPr>
            <a:r>
              <a:rPr lang="en-US" sz="15469" spc="-1175" b="true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BagGuard</a:t>
            </a:r>
            <a:r>
              <a:rPr lang="en-US" b="true" sz="15469" spc="-117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 AI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15665" y="4115434"/>
            <a:ext cx="14858683" cy="1979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An Intelligent Computer Vision Framework for Airport Baggage Damage Prevention, Handling Analytics, and Automated Claim Verification</a:t>
            </a:r>
          </a:p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941745" y="5640070"/>
            <a:ext cx="14858683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“From Check-in to Claim—Every Bag Protected by AI."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36799" y="7086569"/>
            <a:ext cx="14858683" cy="1407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Team Emora</a:t>
            </a:r>
          </a:p>
          <a:p>
            <a:pPr algn="ctr">
              <a:lnSpc>
                <a:spcPts val="3779"/>
              </a:lnSpc>
            </a:pPr>
            <a:r>
              <a:rPr lang="en-US" sz="2699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Sreyas Linith  &amp; Theertha Suran V</a:t>
            </a:r>
          </a:p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Vidya Academy of Science And Technology,Thrissur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64205" y="2839854"/>
            <a:ext cx="15252606" cy="557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139122" indent="-569561" lvl="1">
              <a:lnSpc>
                <a:spcPts val="7386"/>
              </a:lnSpc>
              <a:spcBef>
                <a:spcPct val="0"/>
              </a:spcBef>
              <a:buFont typeface="Arial"/>
              <a:buChar char="•"/>
            </a:pPr>
            <a:r>
              <a:rPr lang="en-US" sz="527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Millions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o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baggage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am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ag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 complain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ann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ua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lly</a:t>
            </a:r>
          </a:p>
          <a:p>
            <a:pPr algn="just" marL="1139122" indent="-569561" lvl="1">
              <a:lnSpc>
                <a:spcPts val="7386"/>
              </a:lnSpc>
              <a:spcBef>
                <a:spcPct val="0"/>
              </a:spcBef>
              <a:buFont typeface="Arial"/>
              <a:buChar char="•"/>
            </a:pP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ig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air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li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mp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ti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osts</a:t>
            </a:r>
          </a:p>
          <a:p>
            <a:pPr algn="just" marL="1139122" indent="-569561" lvl="1">
              <a:lnSpc>
                <a:spcPts val="7386"/>
              </a:lnSpc>
              <a:spcBef>
                <a:spcPct val="0"/>
              </a:spcBef>
              <a:buFont typeface="Arial"/>
              <a:buChar char="•"/>
            </a:pP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Ma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nu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al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laim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inv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tiga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on</a:t>
            </a:r>
          </a:p>
          <a:p>
            <a:pPr algn="just" marL="1139122" indent="-569561" lvl="1">
              <a:lnSpc>
                <a:spcPts val="7386"/>
              </a:lnSpc>
              <a:spcBef>
                <a:spcPct val="0"/>
              </a:spcBef>
              <a:buFont typeface="Arial"/>
              <a:buChar char="•"/>
            </a:pP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ck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of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di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tal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id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en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ce</a:t>
            </a:r>
          </a:p>
          <a:p>
            <a:pPr algn="just" marL="1139122" indent="-569561" lvl="1">
              <a:lnSpc>
                <a:spcPts val="7386"/>
              </a:lnSpc>
              <a:spcBef>
                <a:spcPct val="0"/>
              </a:spcBef>
              <a:buFont typeface="Arial"/>
              <a:buChar char="•"/>
            </a:pP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asse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ng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er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ssa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isf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tion</a:t>
            </a:r>
          </a:p>
          <a:p>
            <a:pPr algn="just" marL="1139122" indent="-569561" lvl="1">
              <a:lnSpc>
                <a:spcPts val="7386"/>
              </a:lnSpc>
              <a:spcBef>
                <a:spcPct val="0"/>
              </a:spcBef>
              <a:buFont typeface="Arial"/>
              <a:buChar char="•"/>
            </a:pP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ed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ti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 mon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527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oring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83555" y="3761636"/>
            <a:ext cx="4933256" cy="4648865"/>
          </a:xfrm>
          <a:custGeom>
            <a:avLst/>
            <a:gdLst/>
            <a:ahLst/>
            <a:cxnLst/>
            <a:rect r="r" b="b" t="t" l="l"/>
            <a:pathLst>
              <a:path h="4648865" w="4933256">
                <a:moveTo>
                  <a:pt x="0" y="0"/>
                </a:moveTo>
                <a:lnTo>
                  <a:pt x="4933256" y="0"/>
                </a:lnTo>
                <a:lnTo>
                  <a:pt x="4933256" y="4648865"/>
                </a:lnTo>
                <a:lnTo>
                  <a:pt x="0" y="4648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823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1189" y="1195427"/>
            <a:ext cx="15745622" cy="8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71189" y="1195427"/>
            <a:ext cx="15745622" cy="8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5002" y="3002627"/>
            <a:ext cx="6963909" cy="389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8"/>
              </a:lnSpc>
            </a:pPr>
          </a:p>
          <a:p>
            <a:pPr algn="l" marL="962064" indent="-481032" lvl="1">
              <a:lnSpc>
                <a:spcPts val="6238"/>
              </a:lnSpc>
              <a:buAutoNum type="arabicPeriod" startAt="1"/>
            </a:pPr>
            <a:r>
              <a:rPr lang="en-US" b="true" sz="445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Passenger</a:t>
            </a:r>
            <a:r>
              <a:rPr lang="en-US" b="true" sz="4456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Prob</a:t>
            </a:r>
            <a:r>
              <a:rPr lang="en-US" b="true" sz="4456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lems</a:t>
            </a:r>
          </a:p>
          <a:p>
            <a:pPr algn="l" marL="962064" indent="-481032" lvl="1">
              <a:lnSpc>
                <a:spcPts val="6238"/>
              </a:lnSpc>
              <a:buFont typeface="Arial"/>
              <a:buChar char="•"/>
            </a:pPr>
            <a:r>
              <a:rPr lang="en-US" sz="445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</a:t>
            </a:r>
            <a:r>
              <a:rPr lang="en-US" sz="445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445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maged lu</a:t>
            </a:r>
            <a:r>
              <a:rPr lang="en-US" sz="445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ggage</a:t>
            </a:r>
          </a:p>
          <a:p>
            <a:pPr algn="l" marL="962064" indent="-481032" lvl="1">
              <a:lnSpc>
                <a:spcPts val="6238"/>
              </a:lnSpc>
              <a:buFont typeface="Arial"/>
              <a:buChar char="•"/>
            </a:pPr>
            <a:r>
              <a:rPr lang="en-US" sz="445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No proof of</a:t>
            </a:r>
            <a:r>
              <a:rPr lang="en-US" sz="445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damage</a:t>
            </a:r>
          </a:p>
          <a:p>
            <a:pPr algn="l" marL="962064" indent="-481032" lvl="1">
              <a:lnSpc>
                <a:spcPts val="6238"/>
              </a:lnSpc>
              <a:spcBef>
                <a:spcPct val="0"/>
              </a:spcBef>
              <a:buFont typeface="Arial"/>
              <a:buChar char="•"/>
            </a:pPr>
            <a:r>
              <a:rPr lang="en-US" sz="4456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Slow claim processing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44000" y="3012152"/>
            <a:ext cx="6462555" cy="433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89"/>
              </a:lnSpc>
            </a:pPr>
          </a:p>
          <a:p>
            <a:pPr algn="l" marL="892802" indent="-446401" lvl="1">
              <a:lnSpc>
                <a:spcPts val="5789"/>
              </a:lnSpc>
              <a:buAutoNum type="arabicPeriod" startAt="1"/>
            </a:pPr>
            <a:r>
              <a:rPr lang="en-US" sz="4135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b="true" sz="4135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irpo</a:t>
            </a:r>
            <a:r>
              <a:rPr lang="en-US" b="true" sz="4135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rt</a:t>
            </a:r>
            <a:r>
              <a:rPr lang="en-US" b="true" sz="4135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Problems</a:t>
            </a:r>
          </a:p>
          <a:p>
            <a:pPr algn="l" marL="892802" indent="-446401" lvl="1">
              <a:lnSpc>
                <a:spcPts val="5789"/>
              </a:lnSpc>
              <a:buFont typeface="Arial"/>
              <a:buChar char="•"/>
            </a:pPr>
            <a:r>
              <a:rPr lang="en-US" sz="4135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Expensive compensation</a:t>
            </a:r>
          </a:p>
          <a:p>
            <a:pPr algn="l" marL="892802" indent="-446401" lvl="1">
              <a:lnSpc>
                <a:spcPts val="5789"/>
              </a:lnSpc>
              <a:buFont typeface="Arial"/>
              <a:buChar char="•"/>
            </a:pPr>
            <a:r>
              <a:rPr lang="en-US" sz="4135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Manual investigations</a:t>
            </a:r>
          </a:p>
          <a:p>
            <a:pPr algn="l" marL="892802" indent="-446401" lvl="1">
              <a:lnSpc>
                <a:spcPts val="5789"/>
              </a:lnSpc>
              <a:buFont typeface="Arial"/>
              <a:buChar char="•"/>
            </a:pPr>
            <a:r>
              <a:rPr lang="en-US" sz="4135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Fraudulent claims</a:t>
            </a:r>
          </a:p>
          <a:p>
            <a:pPr algn="l" marL="892802" indent="-446401" lvl="1">
              <a:lnSpc>
                <a:spcPts val="5789"/>
              </a:lnSpc>
              <a:spcBef>
                <a:spcPct val="0"/>
              </a:spcBef>
              <a:buFont typeface="Arial"/>
              <a:buChar char="•"/>
            </a:pPr>
            <a:r>
              <a:rPr lang="en-US" sz="4135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Poor operational visibility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87693" y="1293820"/>
            <a:ext cx="6720546" cy="149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</a:p>
          <a:p>
            <a:pPr algn="l">
              <a:lnSpc>
                <a:spcPts val="6020"/>
              </a:lnSpc>
              <a:spcBef>
                <a:spcPct val="0"/>
              </a:spcBef>
            </a:pPr>
            <a:r>
              <a:rPr lang="en-US" b="true" sz="43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Curr</a:t>
            </a:r>
            <a:r>
              <a:rPr lang="en-US" b="true" sz="430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ent </a:t>
            </a:r>
            <a:r>
              <a:rPr lang="en-US" b="true" sz="4300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Challe</a:t>
            </a:r>
            <a:r>
              <a:rPr lang="en-US" b="true" sz="4300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nge</a:t>
            </a:r>
            <a:r>
              <a:rPr lang="en-US" b="true" sz="4300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6929" y="7800287"/>
            <a:ext cx="18273972" cy="69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Curr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ent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 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syst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ems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 detect d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amage a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ft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e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r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 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it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 o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ccurs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 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inst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ea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d of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 pr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ev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e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nt</a:t>
            </a:r>
            <a:r>
              <a:rPr lang="en-US" sz="4000" i="tru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ing</a:t>
            </a:r>
            <a:r>
              <a:rPr lang="en-US" sz="4000" i="true" strike="noStrike" u="none">
                <a:solidFill>
                  <a:srgbClr val="000000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 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28722" y="2835270"/>
            <a:ext cx="12940860" cy="573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50587" indent="-575294" lvl="1">
              <a:lnSpc>
                <a:spcPts val="9219"/>
              </a:lnSpc>
              <a:buAutoNum type="arabicPeriod" startAt="1"/>
            </a:pPr>
            <a:r>
              <a:rPr lang="en-US" sz="532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Smart Check-in Scan</a:t>
            </a:r>
          </a:p>
          <a:p>
            <a:pPr algn="l" marL="1150587" indent="-575294" lvl="1">
              <a:lnSpc>
                <a:spcPts val="9219"/>
              </a:lnSpc>
              <a:buAutoNum type="arabicPeriod" startAt="1"/>
            </a:pPr>
            <a:r>
              <a:rPr lang="en-US" sz="532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Real-Time Monitoring</a:t>
            </a:r>
          </a:p>
          <a:p>
            <a:pPr algn="l" marL="1150587" indent="-575294" lvl="1">
              <a:lnSpc>
                <a:spcPts val="9219"/>
              </a:lnSpc>
              <a:buAutoNum type="arabicPeriod" startAt="1"/>
            </a:pPr>
            <a:r>
              <a:rPr lang="en-US" sz="532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Automated Damag</a:t>
            </a:r>
            <a:r>
              <a:rPr lang="en-US" sz="532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 Detection</a:t>
            </a:r>
          </a:p>
          <a:p>
            <a:pPr algn="l" marL="1150587" indent="-575294" lvl="1">
              <a:lnSpc>
                <a:spcPts val="9219"/>
              </a:lnSpc>
              <a:buAutoNum type="arabicPeriod" startAt="1"/>
            </a:pPr>
            <a:r>
              <a:rPr lang="en-US" sz="532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Digital Claim Verification</a:t>
            </a:r>
          </a:p>
          <a:p>
            <a:pPr algn="l" marL="1150587" indent="-575294" lvl="1">
              <a:lnSpc>
                <a:spcPts val="9219"/>
              </a:lnSpc>
              <a:buAutoNum type="arabicPeriod" startAt="1"/>
            </a:pPr>
            <a:r>
              <a:rPr lang="en-US" sz="532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Predictive Analytics Dashboard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143191" y="2090898"/>
            <a:ext cx="6116109" cy="6841340"/>
          </a:xfrm>
          <a:custGeom>
            <a:avLst/>
            <a:gdLst/>
            <a:ahLst/>
            <a:cxnLst/>
            <a:rect r="r" b="b" t="t" l="l"/>
            <a:pathLst>
              <a:path h="6841340" w="6116109">
                <a:moveTo>
                  <a:pt x="0" y="0"/>
                </a:moveTo>
                <a:lnTo>
                  <a:pt x="6116109" y="0"/>
                </a:lnTo>
                <a:lnTo>
                  <a:pt x="6116109" y="6841339"/>
                </a:lnTo>
                <a:lnTo>
                  <a:pt x="0" y="68413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1189" y="1195427"/>
            <a:ext cx="15745622" cy="8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78505" y="3005570"/>
            <a:ext cx="14941991" cy="541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28510" indent="-664255" lvl="1">
              <a:lnSpc>
                <a:spcPts val="8614"/>
              </a:lnSpc>
              <a:buAutoNum type="arabicPeriod" startAt="1"/>
            </a:pPr>
            <a:r>
              <a:rPr lang="en-US" sz="615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Prevents baggag</a:t>
            </a:r>
            <a:r>
              <a:rPr lang="en-US" sz="615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 damage before it occurs</a:t>
            </a:r>
          </a:p>
          <a:p>
            <a:pPr algn="l" marL="1328510" indent="-664255" lvl="1">
              <a:lnSpc>
                <a:spcPts val="8614"/>
              </a:lnSpc>
              <a:buAutoNum type="arabicPeriod" startAt="1"/>
            </a:pPr>
            <a:r>
              <a:rPr lang="en-US" sz="615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</a:t>
            </a:r>
            <a:r>
              <a:rPr lang="en-US" sz="615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enerates digital evidence automatically</a:t>
            </a:r>
          </a:p>
          <a:p>
            <a:pPr algn="l" marL="1328510" indent="-664255" lvl="1">
              <a:lnSpc>
                <a:spcPts val="8614"/>
              </a:lnSpc>
              <a:buAutoNum type="arabicPeriod" startAt="1"/>
            </a:pPr>
            <a:r>
              <a:rPr lang="en-US" sz="615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Uses predictive analytics to improve airport operations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7879" y="7200900"/>
            <a:ext cx="3161421" cy="2670768"/>
          </a:xfrm>
          <a:custGeom>
            <a:avLst/>
            <a:gdLst/>
            <a:ahLst/>
            <a:cxnLst/>
            <a:rect r="r" b="b" t="t" l="l"/>
            <a:pathLst>
              <a:path h="2670768" w="3161421">
                <a:moveTo>
                  <a:pt x="0" y="0"/>
                </a:moveTo>
                <a:lnTo>
                  <a:pt x="3161421" y="0"/>
                </a:lnTo>
                <a:lnTo>
                  <a:pt x="3161421" y="2670768"/>
                </a:lnTo>
                <a:lnTo>
                  <a:pt x="0" y="2670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1189" y="1195427"/>
            <a:ext cx="15745622" cy="8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Why BagGua</a:t>
            </a: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rd AI?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71189" y="1195427"/>
            <a:ext cx="15745622" cy="8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Existing</a:t>
            </a: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 Solutions vs Our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24155"/>
            <a:ext cx="7721188" cy="666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9"/>
              </a:lnSpc>
              <a:spcBef>
                <a:spcPct val="0"/>
              </a:spcBef>
            </a:pPr>
            <a:r>
              <a:rPr lang="en-US" b="true" sz="4213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Existin</a:t>
            </a:r>
            <a:r>
              <a:rPr lang="en-US" b="true" sz="4213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 Technology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Barcode 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Tr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cki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 - O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nly track location.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RFID - N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 dam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ag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 intelligence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CCTV - Manual review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Manual Ins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pec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tion - 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Sl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w 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nd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inc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on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sistent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Claim Management - 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ctive pr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ocess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30888" y="2424155"/>
            <a:ext cx="8232929" cy="6665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9"/>
              </a:lnSpc>
            </a:pPr>
            <a:r>
              <a:rPr lang="en-US" sz="4213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Solution</a:t>
            </a:r>
          </a:p>
          <a:p>
            <a:pPr algn="l" marL="909790" indent="-454895" lvl="1">
              <a:lnSpc>
                <a:spcPts val="5899"/>
              </a:lnSpc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igital Baggage Passpo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rt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Continuous AI Monitoring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Rough Han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dl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ing Detection</a:t>
            </a:r>
          </a:p>
          <a:p>
            <a:pPr algn="just" marL="909790" indent="-454895" lvl="1">
              <a:lnSpc>
                <a:spcPts val="5899"/>
              </a:lnSpc>
              <a:buFont typeface="Arial"/>
              <a:buChar char="•"/>
            </a:pPr>
            <a:r>
              <a:rPr lang="en-US" sz="4213" spc="-92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Automated </a:t>
            </a:r>
            <a:r>
              <a:rPr lang="en-US" sz="4213" spc="-92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Dam</a:t>
            </a:r>
            <a:r>
              <a:rPr lang="en-US" sz="4213" spc="-92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age Assessment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Predictive Risk Analytics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Fr</a:t>
            </a: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aud Detection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 Decision Support</a:t>
            </a:r>
          </a:p>
          <a:p>
            <a:pPr algn="just" marL="909790" indent="-454895" lvl="1">
              <a:lnSpc>
                <a:spcPts val="5899"/>
              </a:lnSpc>
              <a:spcBef>
                <a:spcPct val="0"/>
              </a:spcBef>
              <a:buFont typeface="Arial"/>
              <a:buChar char="•"/>
            </a:pPr>
            <a:r>
              <a:rPr lang="en-US" sz="42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Airport Performance Analytics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71189" y="1195427"/>
            <a:ext cx="15745622" cy="8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Ma</a:t>
            </a: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rket Opportunity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64205" y="2868429"/>
            <a:ext cx="7152174" cy="591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6"/>
              </a:lnSpc>
              <a:spcBef>
                <a:spcPct val="0"/>
              </a:spcBef>
            </a:pPr>
            <a:r>
              <a:rPr lang="en-US" b="true" sz="4004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Aviation</a:t>
            </a:r>
            <a:r>
              <a:rPr lang="en-US" b="true" sz="4004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Ind</a:t>
            </a:r>
            <a:r>
              <a:rPr lang="en-US" b="true" sz="4004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</a:t>
            </a:r>
            <a:r>
              <a:rPr lang="en-US" b="true" sz="4004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stry Tren</a:t>
            </a:r>
            <a:r>
              <a:rPr lang="en-US" b="true" sz="4004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</a:t>
            </a:r>
            <a:r>
              <a:rPr lang="en-US" b="true" sz="4004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</a:t>
            </a:r>
          </a:p>
          <a:p>
            <a:pPr algn="l" marL="864581" indent="-432290" lvl="1">
              <a:lnSpc>
                <a:spcPts val="8609"/>
              </a:lnSpc>
              <a:buFont typeface="Arial"/>
              <a:buChar char="•"/>
            </a:pP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Sma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 Airpo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 Trans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form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ation</a:t>
            </a:r>
          </a:p>
          <a:p>
            <a:pPr algn="l" marL="864581" indent="-432290" lvl="1">
              <a:lnSpc>
                <a:spcPts val="8609"/>
              </a:lnSpc>
              <a:buFont typeface="Arial"/>
              <a:buChar char="•"/>
            </a:pP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Ado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ption</a:t>
            </a:r>
          </a:p>
          <a:p>
            <a:pPr algn="l" marL="864581" indent="-432290" lvl="1">
              <a:lnSpc>
                <a:spcPts val="8609"/>
              </a:lnSpc>
              <a:buFont typeface="Arial"/>
              <a:buChar char="•"/>
            </a:pP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igital Avi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atio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</a:p>
          <a:p>
            <a:pPr algn="l" marL="864581" indent="-432290" lvl="1">
              <a:lnSpc>
                <a:spcPts val="8609"/>
              </a:lnSpc>
              <a:buFont typeface="Arial"/>
              <a:buChar char="•"/>
            </a:pP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Passenger 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Exper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en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</a:t>
            </a:r>
          </a:p>
          <a:p>
            <a:pPr algn="l" marL="864581" indent="-432290" lvl="1">
              <a:lnSpc>
                <a:spcPts val="8609"/>
              </a:lnSpc>
              <a:buFont typeface="Arial"/>
              <a:buChar char="•"/>
            </a:pP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irport Auto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mat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2868429"/>
            <a:ext cx="7152174" cy="483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6"/>
              </a:lnSpc>
              <a:spcBef>
                <a:spcPct val="0"/>
              </a:spcBef>
            </a:pPr>
            <a:r>
              <a:rPr lang="en-US" b="true" sz="4004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Potential</a:t>
            </a:r>
            <a:r>
              <a:rPr lang="en-US" b="true" sz="4004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Customers</a:t>
            </a:r>
          </a:p>
          <a:p>
            <a:pPr algn="l" marL="864581" indent="-432290" lvl="1">
              <a:lnSpc>
                <a:spcPts val="8609"/>
              </a:lnSpc>
              <a:buFont typeface="Arial"/>
              <a:buChar char="•"/>
            </a:pP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Airports</a:t>
            </a:r>
          </a:p>
          <a:p>
            <a:pPr algn="l" marL="864581" indent="-432290" lvl="1">
              <a:lnSpc>
                <a:spcPts val="8609"/>
              </a:lnSpc>
              <a:buFont typeface="Arial"/>
              <a:buChar char="•"/>
            </a:pP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Airlines</a:t>
            </a:r>
          </a:p>
          <a:p>
            <a:pPr algn="l" marL="864581" indent="-432290" lvl="1">
              <a:lnSpc>
                <a:spcPts val="8609"/>
              </a:lnSpc>
              <a:buFont typeface="Arial"/>
              <a:buChar char="•"/>
            </a:pP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Ground Handling Co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mp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anie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</a:p>
          <a:p>
            <a:pPr algn="l" marL="864581" indent="-432290" lvl="1">
              <a:lnSpc>
                <a:spcPts val="8609"/>
              </a:lnSpc>
              <a:buFont typeface="Arial"/>
              <a:buChar char="•"/>
            </a:pP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</a:t>
            </a:r>
            <a:r>
              <a:rPr lang="en-US" sz="4004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iation Authorities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194277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7715" y="260147"/>
            <a:ext cx="16221585" cy="9390467"/>
          </a:xfrm>
          <a:custGeom>
            <a:avLst/>
            <a:gdLst/>
            <a:ahLst/>
            <a:cxnLst/>
            <a:rect r="r" b="b" t="t" l="l"/>
            <a:pathLst>
              <a:path h="9390467" w="16221585">
                <a:moveTo>
                  <a:pt x="0" y="0"/>
                </a:moveTo>
                <a:lnTo>
                  <a:pt x="16221585" y="0"/>
                </a:lnTo>
                <a:lnTo>
                  <a:pt x="16221585" y="9390467"/>
                </a:lnTo>
                <a:lnTo>
                  <a:pt x="0" y="9390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163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430319" y="2944629"/>
            <a:ext cx="6828981" cy="6009503"/>
          </a:xfrm>
          <a:custGeom>
            <a:avLst/>
            <a:gdLst/>
            <a:ahLst/>
            <a:cxnLst/>
            <a:rect r="r" b="b" t="t" l="l"/>
            <a:pathLst>
              <a:path h="6009503" w="6828981">
                <a:moveTo>
                  <a:pt x="0" y="0"/>
                </a:moveTo>
                <a:lnTo>
                  <a:pt x="6828981" y="0"/>
                </a:lnTo>
                <a:lnTo>
                  <a:pt x="6828981" y="6009504"/>
                </a:lnTo>
                <a:lnTo>
                  <a:pt x="0" y="6009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59448" y="1279634"/>
            <a:ext cx="3366800" cy="1346720"/>
          </a:xfrm>
          <a:custGeom>
            <a:avLst/>
            <a:gdLst/>
            <a:ahLst/>
            <a:cxnLst/>
            <a:rect r="r" b="b" t="t" l="l"/>
            <a:pathLst>
              <a:path h="1346720" w="3366800">
                <a:moveTo>
                  <a:pt x="0" y="0"/>
                </a:moveTo>
                <a:lnTo>
                  <a:pt x="3366800" y="0"/>
                </a:lnTo>
                <a:lnTo>
                  <a:pt x="3366800" y="1346720"/>
                </a:lnTo>
                <a:lnTo>
                  <a:pt x="0" y="13467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1189" y="1195427"/>
            <a:ext cx="15745622" cy="8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I</a:t>
            </a: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mpact &amp; Future Vision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64205" y="2868429"/>
            <a:ext cx="9054826" cy="286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7"/>
              </a:lnSpc>
            </a:pPr>
            <a:r>
              <a:rPr lang="en-US" b="true" sz="411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Econ</a:t>
            </a:r>
            <a:r>
              <a:rPr lang="en-US" b="true" sz="4119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omic Impact</a:t>
            </a:r>
          </a:p>
          <a:p>
            <a:pPr algn="just" marL="889483" indent="-444742" lvl="1">
              <a:lnSpc>
                <a:spcPts val="5767"/>
              </a:lnSpc>
              <a:spcBef>
                <a:spcPct val="0"/>
              </a:spcBef>
              <a:buFont typeface="Arial"/>
              <a:buChar char="•"/>
            </a:pP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Lowe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 operational costs</a:t>
            </a:r>
          </a:p>
          <a:p>
            <a:pPr algn="just" marL="889483" indent="-444742" lvl="1">
              <a:lnSpc>
                <a:spcPts val="5767"/>
              </a:lnSpc>
              <a:spcBef>
                <a:spcPct val="0"/>
              </a:spcBef>
              <a:buFont typeface="Arial"/>
              <a:buChar char="•"/>
            </a:pP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Red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uced c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mpensation e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xp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ense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</a:p>
          <a:p>
            <a:pPr algn="just" marL="889483" indent="-444742" lvl="1">
              <a:lnSpc>
                <a:spcPts val="5767"/>
              </a:lnSpc>
              <a:spcBef>
                <a:spcPct val="0"/>
              </a:spcBef>
              <a:buFont typeface="Arial"/>
              <a:buChar char="•"/>
            </a:pP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Improv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ed ai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rpor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 e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ff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iciency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4205" y="6084069"/>
            <a:ext cx="8254726" cy="286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7"/>
              </a:lnSpc>
            </a:pPr>
            <a:r>
              <a:rPr lang="en-US" b="true" sz="411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</a:t>
            </a:r>
            <a:r>
              <a:rPr lang="en-US" b="true" sz="4119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ocial Impact</a:t>
            </a:r>
          </a:p>
          <a:p>
            <a:pPr algn="just" marL="889483" indent="-444742" lvl="1">
              <a:lnSpc>
                <a:spcPts val="5767"/>
              </a:lnSpc>
              <a:spcBef>
                <a:spcPct val="0"/>
              </a:spcBef>
              <a:buFont typeface="Arial"/>
              <a:buChar char="•"/>
            </a:pP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Passeng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 trust</a:t>
            </a:r>
          </a:p>
          <a:p>
            <a:pPr algn="just" marL="889483" indent="-444742" lvl="1">
              <a:lnSpc>
                <a:spcPts val="5767"/>
              </a:lnSpc>
              <a:spcBef>
                <a:spcPct val="0"/>
              </a:spcBef>
              <a:buFont typeface="Arial"/>
              <a:buChar char="•"/>
            </a:pP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Transparency</a:t>
            </a:r>
          </a:p>
          <a:p>
            <a:pPr algn="just" marL="889483" indent="-444742" lvl="1">
              <a:lnSpc>
                <a:spcPts val="5767"/>
              </a:lnSpc>
              <a:spcBef>
                <a:spcPct val="0"/>
              </a:spcBef>
              <a:buFont typeface="Arial"/>
              <a:buChar char="•"/>
            </a:pP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tt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er travel expe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</a:t>
            </a:r>
            <a:r>
              <a:rPr lang="en-US" sz="4119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ience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7308" y="781092"/>
            <a:ext cx="17413383" cy="8753478"/>
          </a:xfrm>
          <a:custGeom>
            <a:avLst/>
            <a:gdLst/>
            <a:ahLst/>
            <a:cxnLst/>
            <a:rect r="r" b="b" t="t" l="l"/>
            <a:pathLst>
              <a:path h="8753478" w="17413383">
                <a:moveTo>
                  <a:pt x="0" y="0"/>
                </a:moveTo>
                <a:lnTo>
                  <a:pt x="17413384" y="0"/>
                </a:lnTo>
                <a:lnTo>
                  <a:pt x="17413384" y="8753478"/>
                </a:lnTo>
                <a:lnTo>
                  <a:pt x="0" y="87534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963" r="0" b="-13656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71189" y="1195427"/>
            <a:ext cx="15745622" cy="89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Techn</a:t>
            </a:r>
            <a:r>
              <a:rPr lang="en-US" b="true" sz="7699" spc="-585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ology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42938" y="2868429"/>
            <a:ext cx="4433955" cy="331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82"/>
              </a:lnSpc>
              <a:spcBef>
                <a:spcPct val="0"/>
              </a:spcBef>
            </a:pPr>
            <a:r>
              <a:rPr lang="en-US" b="true" sz="3773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AI</a:t>
            </a:r>
            <a:r>
              <a:rPr lang="en-US" b="true" sz="3773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La</a:t>
            </a:r>
            <a:r>
              <a:rPr lang="en-US" b="true" sz="3773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y</a:t>
            </a:r>
            <a:r>
              <a:rPr lang="en-US" b="true" sz="3773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er</a:t>
            </a:r>
          </a:p>
          <a:p>
            <a:pPr algn="just" marL="814642" indent="-407321" lvl="1">
              <a:lnSpc>
                <a:spcPts val="5282"/>
              </a:lnSpc>
              <a:spcBef>
                <a:spcPct val="0"/>
              </a:spcBef>
              <a:buFont typeface="Arial"/>
              <a:buChar char="•"/>
            </a:pP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YOLO</a:t>
            </a:r>
          </a:p>
          <a:p>
            <a:pPr algn="just" marL="814642" indent="-407321" lvl="1">
              <a:lnSpc>
                <a:spcPts val="5282"/>
              </a:lnSpc>
              <a:spcBef>
                <a:spcPct val="0"/>
              </a:spcBef>
              <a:buFont typeface="Arial"/>
              <a:buChar char="•"/>
            </a:pP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CNN</a:t>
            </a:r>
          </a:p>
          <a:p>
            <a:pPr algn="just" marL="814642" indent="-407321" lvl="1">
              <a:lnSpc>
                <a:spcPts val="5282"/>
              </a:lnSpc>
              <a:spcBef>
                <a:spcPct val="0"/>
              </a:spcBef>
              <a:buFont typeface="Arial"/>
              <a:buChar char="•"/>
            </a:pP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omputer Vision</a:t>
            </a:r>
          </a:p>
          <a:p>
            <a:pPr algn="just" marL="814642" indent="-407321" lvl="1">
              <a:lnSpc>
                <a:spcPts val="5282"/>
              </a:lnSpc>
              <a:spcBef>
                <a:spcPct val="0"/>
              </a:spcBef>
              <a:buFont typeface="Arial"/>
              <a:buChar char="•"/>
            </a:pP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Im</a:t>
            </a: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age Similarity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905716" y="2868429"/>
            <a:ext cx="4433955" cy="331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82"/>
              </a:lnSpc>
              <a:spcBef>
                <a:spcPct val="0"/>
              </a:spcBef>
            </a:pPr>
            <a:r>
              <a:rPr lang="en-US" b="true" sz="3773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Data</a:t>
            </a:r>
            <a:r>
              <a:rPr lang="en-US" b="true" sz="3773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Layer</a:t>
            </a:r>
          </a:p>
          <a:p>
            <a:pPr algn="just" marL="814642" indent="-407321" lvl="1">
              <a:lnSpc>
                <a:spcPts val="5282"/>
              </a:lnSpc>
              <a:spcBef>
                <a:spcPct val="0"/>
              </a:spcBef>
              <a:buFont typeface="Arial"/>
              <a:buChar char="•"/>
            </a:pP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Cloud Storage</a:t>
            </a:r>
          </a:p>
          <a:p>
            <a:pPr algn="just" marL="814642" indent="-407321" lvl="1">
              <a:lnSpc>
                <a:spcPts val="5282"/>
              </a:lnSpc>
              <a:spcBef>
                <a:spcPct val="0"/>
              </a:spcBef>
              <a:buFont typeface="Arial"/>
              <a:buChar char="•"/>
            </a:pP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Database</a:t>
            </a:r>
          </a:p>
          <a:p>
            <a:pPr algn="just" marL="814642" indent="-407321" lvl="1">
              <a:lnSpc>
                <a:spcPts val="5282"/>
              </a:lnSpc>
              <a:spcBef>
                <a:spcPct val="0"/>
              </a:spcBef>
              <a:buFont typeface="Arial"/>
              <a:buChar char="•"/>
            </a:pP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RFID</a:t>
            </a:r>
          </a:p>
          <a:p>
            <a:pPr algn="just" marL="814642" indent="-407321" lvl="1">
              <a:lnSpc>
                <a:spcPts val="5282"/>
              </a:lnSpc>
              <a:spcBef>
                <a:spcPct val="0"/>
              </a:spcBef>
              <a:buFont typeface="Arial"/>
              <a:buChar char="•"/>
            </a:pPr>
            <a:r>
              <a:rPr lang="en-US" sz="377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QR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42591" y="2868429"/>
            <a:ext cx="4338747" cy="464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78"/>
              </a:lnSpc>
              <a:spcBef>
                <a:spcPct val="0"/>
              </a:spcBef>
            </a:pPr>
            <a:r>
              <a:rPr lang="en-US" b="true" sz="3770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Deployment</a:t>
            </a:r>
          </a:p>
          <a:p>
            <a:pPr algn="just" marL="813944" indent="-406972" lvl="1">
              <a:lnSpc>
                <a:spcPts val="5278"/>
              </a:lnSpc>
              <a:spcBef>
                <a:spcPct val="0"/>
              </a:spcBef>
              <a:buFont typeface="Arial"/>
              <a:buChar char="•"/>
            </a:pPr>
            <a:r>
              <a:rPr lang="en-US" sz="377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377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irport Cameras</a:t>
            </a:r>
          </a:p>
          <a:p>
            <a:pPr algn="just" marL="813944" indent="-406972" lvl="1">
              <a:lnSpc>
                <a:spcPts val="5278"/>
              </a:lnSpc>
              <a:spcBef>
                <a:spcPct val="0"/>
              </a:spcBef>
              <a:buFont typeface="Arial"/>
              <a:buChar char="•"/>
            </a:pPr>
            <a:r>
              <a:rPr lang="en-US" sz="377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Conv</a:t>
            </a:r>
            <a:r>
              <a:rPr lang="en-US" sz="377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eyor</a:t>
            </a:r>
          </a:p>
          <a:p>
            <a:pPr algn="just" marL="813944" indent="-406972" lvl="1">
              <a:lnSpc>
                <a:spcPts val="5278"/>
              </a:lnSpc>
              <a:spcBef>
                <a:spcPct val="0"/>
              </a:spcBef>
              <a:buFont typeface="Arial"/>
              <a:buChar char="•"/>
            </a:pPr>
            <a:r>
              <a:rPr lang="en-US" sz="377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Cloud</a:t>
            </a:r>
          </a:p>
          <a:p>
            <a:pPr algn="just" marL="813944" indent="-406972" lvl="1">
              <a:lnSpc>
                <a:spcPts val="5278"/>
              </a:lnSpc>
              <a:spcBef>
                <a:spcPct val="0"/>
              </a:spcBef>
              <a:buFont typeface="Arial"/>
              <a:buChar char="•"/>
            </a:pPr>
            <a:r>
              <a:rPr lang="en-US" sz="3770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Mobile Dashboard</a:t>
            </a:r>
          </a:p>
          <a:p>
            <a:pPr algn="just">
              <a:lnSpc>
                <a:spcPts val="52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71189" y="1195403"/>
            <a:ext cx="15745622" cy="89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b="true" sz="7699" spc="-585">
                <a:solidFill>
                  <a:srgbClr val="1D348A"/>
                </a:solidFill>
                <a:latin typeface="Roca Two Bold"/>
                <a:ea typeface="Roca Two Bold"/>
                <a:cs typeface="Roca Two Bold"/>
                <a:sym typeface="Roca Two Bold"/>
              </a:rPr>
              <a:t>Revenue Model &amp; Cost Estimation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9183" y="2361130"/>
            <a:ext cx="7001062" cy="583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92"/>
              </a:lnSpc>
              <a:spcBef>
                <a:spcPct val="0"/>
              </a:spcBef>
            </a:pPr>
            <a:r>
              <a:rPr lang="en-US" b="true" sz="4137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Revenue Sources</a:t>
            </a:r>
          </a:p>
          <a:p>
            <a:pPr algn="just" marL="893285" indent="-446643" lvl="1">
              <a:lnSpc>
                <a:spcPts val="5792"/>
              </a:lnSpc>
              <a:spcBef>
                <a:spcPct val="0"/>
              </a:spcBef>
              <a:buFont typeface="Arial"/>
              <a:buChar char="•"/>
            </a:pPr>
            <a:r>
              <a:rPr lang="en-US" sz="4137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Airport Software License</a:t>
            </a:r>
          </a:p>
          <a:p>
            <a:pPr algn="just" marL="893285" indent="-446643" lvl="1">
              <a:lnSpc>
                <a:spcPts val="5792"/>
              </a:lnSpc>
              <a:spcBef>
                <a:spcPct val="0"/>
              </a:spcBef>
              <a:buFont typeface="Arial"/>
              <a:buChar char="•"/>
            </a:pPr>
            <a:r>
              <a:rPr lang="en-US" sz="4137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 Monitoring Subscription</a:t>
            </a:r>
          </a:p>
          <a:p>
            <a:pPr algn="just" marL="893285" indent="-446643" lvl="1">
              <a:lnSpc>
                <a:spcPts val="5792"/>
              </a:lnSpc>
              <a:spcBef>
                <a:spcPct val="0"/>
              </a:spcBef>
              <a:buFont typeface="Arial"/>
              <a:buChar char="•"/>
            </a:pPr>
            <a:r>
              <a:rPr lang="en-US" sz="4137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Cloud Analytics Dashboard</a:t>
            </a:r>
          </a:p>
          <a:p>
            <a:pPr algn="just" marL="893285" indent="-446643" lvl="1">
              <a:lnSpc>
                <a:spcPts val="5792"/>
              </a:lnSpc>
              <a:spcBef>
                <a:spcPct val="0"/>
              </a:spcBef>
              <a:buFont typeface="Arial"/>
              <a:buChar char="•"/>
            </a:pPr>
            <a:r>
              <a:rPr lang="en-US" sz="4137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Annual Maintenance &amp; Support</a:t>
            </a:r>
          </a:p>
          <a:p>
            <a:pPr algn="just">
              <a:lnSpc>
                <a:spcPts val="5792"/>
              </a:lnSpc>
              <a:spcBef>
                <a:spcPct val="0"/>
              </a:spcBef>
            </a:pPr>
            <a:r>
              <a:rPr lang="en-US" b="true" sz="4137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Potential Annual Revenue per Airport: ₹21–34 Lakhs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24595" y="2342080"/>
            <a:ext cx="7492216" cy="684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38"/>
              </a:lnSpc>
              <a:spcBef>
                <a:spcPct val="0"/>
              </a:spcBef>
            </a:pPr>
            <a:r>
              <a:rPr lang="en-US" b="true" sz="4313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Development Cost</a:t>
            </a:r>
          </a:p>
          <a:p>
            <a:pPr algn="just" marL="931270" indent="-465635" lvl="1">
              <a:lnSpc>
                <a:spcPts val="6038"/>
              </a:lnSpc>
              <a:spcBef>
                <a:spcPct val="0"/>
              </a:spcBef>
              <a:buFont typeface="Arial"/>
              <a:buChar char="•"/>
            </a:pPr>
            <a:r>
              <a:rPr lang="en-US" sz="43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AI Model Development</a:t>
            </a:r>
          </a:p>
          <a:p>
            <a:pPr algn="just" marL="931270" indent="-465635" lvl="1">
              <a:lnSpc>
                <a:spcPts val="6038"/>
              </a:lnSpc>
              <a:spcBef>
                <a:spcPct val="0"/>
              </a:spcBef>
              <a:buFont typeface="Arial"/>
              <a:buChar char="•"/>
            </a:pPr>
            <a:r>
              <a:rPr lang="en-US" sz="43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Dashboard &amp; Backend</a:t>
            </a:r>
          </a:p>
          <a:p>
            <a:pPr algn="just" marL="931270" indent="-465635" lvl="1">
              <a:lnSpc>
                <a:spcPts val="6038"/>
              </a:lnSpc>
              <a:spcBef>
                <a:spcPct val="0"/>
              </a:spcBef>
              <a:buFont typeface="Arial"/>
              <a:buChar char="•"/>
            </a:pPr>
            <a:r>
              <a:rPr lang="en-US" sz="43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Cloud Infrastructure</a:t>
            </a:r>
          </a:p>
          <a:p>
            <a:pPr algn="just" marL="931270" indent="-465635" lvl="1">
              <a:lnSpc>
                <a:spcPts val="6038"/>
              </a:lnSpc>
              <a:spcBef>
                <a:spcPct val="0"/>
              </a:spcBef>
              <a:buFont typeface="Arial"/>
              <a:buChar char="•"/>
            </a:pPr>
            <a:r>
              <a:rPr lang="en-US" sz="4313" strike="noStrike" u="none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System Integration &amp; Testing</a:t>
            </a:r>
          </a:p>
          <a:p>
            <a:pPr algn="just">
              <a:lnSpc>
                <a:spcPts val="6038"/>
              </a:lnSpc>
              <a:spcBef>
                <a:spcPct val="0"/>
              </a:spcBef>
            </a:pPr>
            <a:r>
              <a:rPr lang="en-US" b="true" sz="4313" strike="noStrike" u="non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Total Estimated Development Cost: ≈ ₹6 Lakhs</a:t>
            </a:r>
          </a:p>
          <a:p>
            <a:pPr algn="just">
              <a:lnSpc>
                <a:spcPts val="60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5423" y="415332"/>
            <a:ext cx="15106885" cy="9456337"/>
          </a:xfrm>
          <a:custGeom>
            <a:avLst/>
            <a:gdLst/>
            <a:ahLst/>
            <a:cxnLst/>
            <a:rect r="r" b="b" t="t" l="l"/>
            <a:pathLst>
              <a:path h="9456337" w="15106885">
                <a:moveTo>
                  <a:pt x="0" y="0"/>
                </a:moveTo>
                <a:lnTo>
                  <a:pt x="15106884" y="0"/>
                </a:lnTo>
                <a:lnTo>
                  <a:pt x="15106884" y="9456336"/>
                </a:lnTo>
                <a:lnTo>
                  <a:pt x="0" y="94563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408" r="0" b="-1344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7308" y="415332"/>
            <a:ext cx="17413383" cy="9499614"/>
          </a:xfrm>
          <a:custGeom>
            <a:avLst/>
            <a:gdLst/>
            <a:ahLst/>
            <a:cxnLst/>
            <a:rect r="r" b="b" t="t" l="l"/>
            <a:pathLst>
              <a:path h="9499614" w="17413383">
                <a:moveTo>
                  <a:pt x="0" y="0"/>
                </a:moveTo>
                <a:lnTo>
                  <a:pt x="17413384" y="0"/>
                </a:lnTo>
                <a:lnTo>
                  <a:pt x="17413384" y="9499614"/>
                </a:lnTo>
                <a:lnTo>
                  <a:pt x="0" y="9499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92" r="0" b="-149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12141" y="2975805"/>
            <a:ext cx="9895170" cy="595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139"/>
              </a:lnSpc>
            </a:pPr>
            <a:r>
              <a:rPr lang="en-US" b="true" sz="27000" spc="-205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Thank You!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06211" y="5681778"/>
            <a:ext cx="2048459" cy="2117703"/>
          </a:xfrm>
          <a:custGeom>
            <a:avLst/>
            <a:gdLst/>
            <a:ahLst/>
            <a:cxnLst/>
            <a:rect r="r" b="b" t="t" l="l"/>
            <a:pathLst>
              <a:path h="2117703" w="2048459">
                <a:moveTo>
                  <a:pt x="0" y="0"/>
                </a:moveTo>
                <a:lnTo>
                  <a:pt x="2048459" y="0"/>
                </a:lnTo>
                <a:lnTo>
                  <a:pt x="2048459" y="2117703"/>
                </a:lnTo>
                <a:lnTo>
                  <a:pt x="0" y="2117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